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>
                <a:solidFill>
                  <a:srgbClr val="CBD5E1"/>
                </a:solidFill>
              </a:defRPr>
            </a:pPr>
            <a:r>
              <a:t>Business Analyst Portfolio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BRD / SRS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93C5FD"/>
                </a:solidFill>
              </a:defRPr>
            </a:pPr>
            <a:r>
              <a:t>Food Delivery App – Order Cancellation &amp; Refund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84048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E2E8F0"/>
                </a:solidFill>
              </a:defRPr>
            </a:pPr>
            <a:r>
              <a:t>End-to-end requirements package: BRD, SRS, user stories, use cases, acceptance criteria, process flows, RTM and UAT scenarios.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3977639"/>
            <a:ext cx="2377440" cy="1097280"/>
          </a:xfrm>
          <a:prstGeom prst="roundRect">
            <a:avLst/>
          </a:prstGeom>
          <a:solidFill>
            <a:srgbClr val="DBEAFE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2100" b="1">
                <a:solidFill>
                  <a:srgbClr val="1E3A8A"/>
                </a:solidFill>
              </a:defRPr>
            </a:pPr>
            <a:r>
              <a:t>GitHub + LinkedIn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Why this feature is needed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2000" b="0">
                <a:solidFill>
                  <a:srgbClr val="334155"/>
                </a:solidFill>
              </a:defRPr>
            </a:pPr>
            <a:r>
              <a:t>• Customers do not know if cancellation is allowed.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3035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2000" b="0">
                <a:solidFill>
                  <a:srgbClr val="334155"/>
                </a:solidFill>
              </a:defRPr>
            </a:pPr>
            <a:r>
              <a:t>• Refund amount and cancellation fee are unclear.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53035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2000" b="0">
                <a:solidFill>
                  <a:srgbClr val="334155"/>
                </a:solidFill>
              </a:defRPr>
            </a:pPr>
            <a:r>
              <a:t>• Support teams manually verify order/refund status.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3035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2000" b="0">
                <a:solidFill>
                  <a:srgbClr val="334155"/>
                </a:solidFill>
              </a:defRPr>
            </a:pPr>
            <a:r>
              <a:t>• Refund delays create repeat follow-ups and poor experience.</a:t>
            </a:r>
          </a:p>
        </p:txBody>
      </p:sp>
      <p:pic>
        <p:nvPicPr>
          <p:cNvPr id="8" name="Picture 7" descr="linkedin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03520" cy="29832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t>Project Objective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What the BRD/SRS covers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394960" cy="1554480"/>
          </a:xfrm>
          <a:prstGeom prst="roundRect">
            <a:avLst/>
          </a:prstGeom>
          <a:solidFill>
            <a:srgbClr val="E0F2FE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Objective</a:t>
            </a:r>
            <a:br/>
            <a:r>
              <a:t>Define a clear, testable cancellation and refund workflow that improves transparency and reduces support effort.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212080" cy="1554480"/>
          </a:xfrm>
          <a:prstGeom prst="roundRect">
            <a:avLst/>
          </a:prstGeom>
          <a:solidFill>
            <a:srgbClr val="DCFCE7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1800" b="1">
                <a:solidFill>
                  <a:srgbClr val="0F172A"/>
                </a:solidFill>
              </a:defRPr>
            </a:pPr>
            <a:r>
              <a:t>In Scope</a:t>
            </a:r>
            <a:br/>
            <a:r>
              <a:t>Cancel flow, refund calculation, reason capture, admin exceptions, notifications, audit trail, reporting.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383280"/>
            <a:ext cx="108813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2000" b="0">
                <a:solidFill>
                  <a:srgbClr val="334155"/>
                </a:solidFill>
              </a:defRPr>
            </a:pPr>
            <a:r>
              <a:t>Out of Scope: full payment gateway development, full delivery app development, coupon engine redesign, loyalty/referral refunds.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t>As-Is vs To-Be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Current manual process redesigned as a digital workflow</a:t>
            </a:r>
          </a:p>
        </p:txBody>
      </p:sp>
      <p:pic>
        <p:nvPicPr>
          <p:cNvPr id="4" name="Picture 3" descr="as_is_process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5303520" cy="4103409"/>
          </a:xfrm>
          <a:prstGeom prst="rect">
            <a:avLst/>
          </a:prstGeom>
        </p:spPr>
      </p:pic>
      <p:pic>
        <p:nvPicPr>
          <p:cNvPr id="5" name="Picture 4" descr="to_be_process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43000"/>
            <a:ext cx="5303520" cy="43940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t>Stakeholders &amp; Business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Requirement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49377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1800" b="0">
                <a:solidFill>
                  <a:srgbClr val="111827"/>
                </a:solidFill>
              </a:defRPr>
            </a:pPr>
            <a:r>
              <a:t>• Customer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49377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1800" b="0">
                <a:solidFill>
                  <a:srgbClr val="111827"/>
                </a:solidFill>
              </a:defRPr>
            </a:pPr>
            <a:r>
              <a:t>• Restaurant Partner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49377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1800" b="0">
                <a:solidFill>
                  <a:srgbClr val="111827"/>
                </a:solidFill>
              </a:defRPr>
            </a:pPr>
            <a:r>
              <a:t>• Support/Admin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49377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1800" b="0">
                <a:solidFill>
                  <a:srgbClr val="111827"/>
                </a:solidFill>
              </a:defRPr>
            </a:pPr>
            <a:r>
              <a:t>• Finance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49377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1800" b="0">
                <a:solidFill>
                  <a:srgbClr val="111827"/>
                </a:solidFill>
              </a:defRPr>
            </a:pPr>
            <a:r>
              <a:t>• Product Manager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49377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1800" b="0">
                <a:solidFill>
                  <a:srgbClr val="111827"/>
                </a:solidFill>
              </a:defRPr>
            </a:pPr>
            <a:r>
              <a:t>• Operations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120640" cy="594360"/>
          </a:xfrm>
          <a:prstGeom prst="roundRect">
            <a:avLst/>
          </a:prstGeom>
          <a:solidFill>
            <a:srgbClr val="FEF3C7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1700" b="0">
                <a:solidFill>
                  <a:srgbClr val="111827"/>
                </a:solidFill>
              </a:defRPr>
            </a:pPr>
            <a:r>
              <a:t>BR-01: 100% refund before restaurant acceptance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57400"/>
            <a:ext cx="5120640" cy="594360"/>
          </a:xfrm>
          <a:prstGeom prst="roundRect">
            <a:avLst/>
          </a:prstGeom>
          <a:solidFill>
            <a:srgbClr val="FEF3C7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1700" b="0">
                <a:solidFill>
                  <a:srgbClr val="111827"/>
                </a:solidFill>
              </a:defRPr>
            </a:pPr>
            <a:r>
              <a:t>BR-02: Cancellation fee after preparation starts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880360"/>
            <a:ext cx="5120640" cy="594360"/>
          </a:xfrm>
          <a:prstGeom prst="roundRect">
            <a:avLst/>
          </a:prstGeom>
          <a:solidFill>
            <a:srgbClr val="FEF3C7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1700" b="0">
                <a:solidFill>
                  <a:srgbClr val="111827"/>
                </a:solidFill>
              </a:defRPr>
            </a:pPr>
            <a:r>
              <a:t>BR-03: Cancellation blocked after pickup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03320"/>
            <a:ext cx="5120640" cy="594360"/>
          </a:xfrm>
          <a:prstGeom prst="roundRect">
            <a:avLst/>
          </a:prstGeom>
          <a:solidFill>
            <a:srgbClr val="FEF3C7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1700" b="0">
                <a:solidFill>
                  <a:srgbClr val="111827"/>
                </a:solidFill>
              </a:defRPr>
            </a:pPr>
            <a:r>
              <a:t>BR-04: Admin override requires reason &amp; audit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t>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High-level requirement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5120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1600" b="0">
                <a:solidFill>
                  <a:srgbClr val="111827"/>
                </a:solidFill>
              </a:defRPr>
            </a:pPr>
            <a:r>
              <a:t>FR-01: Show Cancel Order button only when eligible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5120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1600" b="0">
                <a:solidFill>
                  <a:srgbClr val="111827"/>
                </a:solidFill>
              </a:defRPr>
            </a:pPr>
            <a:r>
              <a:t>FR-02: Capture cancellation reason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71800"/>
            <a:ext cx="5120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1600" b="0">
                <a:solidFill>
                  <a:srgbClr val="111827"/>
                </a:solidFill>
              </a:defRPr>
            </a:pPr>
            <a:r>
              <a:t>FR-03: Validate current order stage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886200"/>
            <a:ext cx="5120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1600" b="0">
                <a:solidFill>
                  <a:srgbClr val="111827"/>
                </a:solidFill>
              </a:defRPr>
            </a:pPr>
            <a:r>
              <a:t>FR-04: Calculate refund amount automatically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143000"/>
            <a:ext cx="5120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1600" b="0">
                <a:solidFill>
                  <a:srgbClr val="111827"/>
                </a:solidFill>
              </a:defRPr>
            </a:pPr>
            <a:r>
              <a:t>FR-05: Show cancellation fee and refund timeline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57400"/>
            <a:ext cx="5120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1600" b="0">
                <a:solidFill>
                  <a:srgbClr val="111827"/>
                </a:solidFill>
              </a:defRPr>
            </a:pPr>
            <a:r>
              <a:t>FR-06: Initiate refund through payment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971800"/>
            <a:ext cx="5120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1600" b="0">
                <a:solidFill>
                  <a:srgbClr val="111827"/>
                </a:solidFill>
              </a:defRPr>
            </a:pPr>
            <a:r>
              <a:t>FR-07: Allow customer to track refund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86200"/>
            <a:ext cx="51206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1600" b="0">
                <a:solidFill>
                  <a:srgbClr val="111827"/>
                </a:solidFill>
              </a:defRPr>
            </a:pPr>
            <a:r>
              <a:t>FR-08: Admin can handle exception refunds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t>Feature Wireframe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Customer and admin touchpoints</a:t>
            </a:r>
          </a:p>
        </p:txBody>
      </p:sp>
      <p:pic>
        <p:nvPicPr>
          <p:cNvPr id="4" name="Picture 3" descr="feature_wire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10881360" cy="6995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t>Requirement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BA tracking and traceability view</a:t>
            </a:r>
          </a:p>
        </p:txBody>
      </p:sp>
      <p:pic>
        <p:nvPicPr>
          <p:cNvPr id="4" name="Picture 3" descr="requirement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1247120" cy="7029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t>Requirement Traceability &amp; UAT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</a:defRPr>
            </a:pPr>
            <a:r>
              <a:t>How requirements become testable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5212080" cy="4114800"/>
          </a:xfrm>
          <a:prstGeom prst="roundRect">
            <a:avLst/>
          </a:prstGeom>
          <a:solidFill>
            <a:srgbClr val="E0E7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2400" b="1">
                <a:solidFill>
                  <a:srgbClr val="111827"/>
                </a:solidFill>
              </a:defRPr>
            </a:pPr>
            <a:r>
              <a:t>RTM links:</a:t>
            </a:r>
            <a:br/>
            <a:br/>
            <a:r>
              <a:t>• Requirement ID</a:t>
            </a:r>
            <a:br/>
            <a:r>
              <a:t>• User Story</a:t>
            </a:r>
            <a:br/>
            <a:r>
              <a:t>• Use Case</a:t>
            </a:r>
            <a:br/>
            <a:r>
              <a:t>• Test Scenario</a:t>
            </a:r>
            <a:br/>
            <a:r>
              <a:t>• Priority</a:t>
            </a:r>
            <a:br/>
            <a:r>
              <a:t>•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34440"/>
            <a:ext cx="5212080" cy="4114800"/>
          </a:xfrm>
          <a:prstGeom prst="roundRect">
            <a:avLst/>
          </a:prstGeom>
          <a:solidFill>
            <a:srgbClr val="DCFCE7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2400" b="1">
                <a:solidFill>
                  <a:srgbClr val="111827"/>
                </a:solidFill>
              </a:defRPr>
            </a:pPr>
            <a:r>
              <a:t>UAT Scenarios:</a:t>
            </a:r>
            <a:br/>
            <a:br/>
            <a:r>
              <a:t>• Eligible cancellation</a:t>
            </a:r>
            <a:br/>
            <a:r>
              <a:t>• Cancellation fee case</a:t>
            </a:r>
            <a:br/>
            <a:r>
              <a:t>• Refund API failure</a:t>
            </a:r>
            <a:br/>
            <a:r>
              <a:t>• Admin exception approval</a:t>
            </a:r>
            <a:br/>
            <a:r>
              <a:t>• Refund report export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Project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93C5FD"/>
                </a:solidFill>
              </a:defRPr>
            </a:pPr>
            <a:r>
              <a:t>A complete BA requirements package for a real-world app feature.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E2E8F0"/>
                </a:solidFill>
              </a:defRPr>
            </a:pPr>
            <a:r>
              <a:t>Demonstrates BRD/SRS writing, stakeholder analysis, process design, functional requirements, user stories, business rules, acceptance criteria, RTM and UAT planning.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303520"/>
            <a:ext cx="365760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73152"/>
          <a:lstStyle/>
          <a:p>
            <a:pPr algn="ctr">
              <a:defRPr sz="2200" b="1">
                <a:solidFill>
                  <a:srgbClr val="1E3A8A"/>
                </a:solidFill>
              </a:defRPr>
            </a:pPr>
            <a:r>
              <a:t>Ready for GitHub + LinkedIn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